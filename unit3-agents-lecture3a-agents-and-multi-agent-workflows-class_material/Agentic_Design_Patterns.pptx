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7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Design Patterns — Core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CS401R: Building Multi-Agent Systems</a:t>
            </a:r>
          </a:p>
          <a:p>
            <a:endParaRPr dirty="0"/>
          </a:p>
          <a:p>
            <a:r>
              <a:rPr dirty="0"/>
              <a:t>Six foundational coordination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FEC4-9A2D-F387-6A06-28B06A19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3107-3EDB-673A-FD82-9F355C253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Supervisor (hub-and-spoke)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Pipeline / assembly 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Planner – executor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Generator – critic (proposer – verifier)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Committee / self-consistency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47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1. Supervisor (Hub-and-Spoke)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Concept: A central manager delegates tasks to specialist agents and integrates their work.</a:t>
            </a:r>
          </a:p>
          <a:p>
            <a:r>
              <a:rPr sz="2000" dirty="0"/>
              <a:t>Example: Magazine Editor and Staff Writers</a:t>
            </a:r>
          </a:p>
          <a:p>
            <a:pPr lvl="1"/>
            <a:r>
              <a:rPr sz="1600" dirty="0"/>
              <a:t>Editor assigns article sections to writers, fact-checkers, and designers.</a:t>
            </a:r>
          </a:p>
          <a:p>
            <a:pPr lvl="1"/>
            <a:r>
              <a:rPr sz="1600" dirty="0"/>
              <a:t>Each completes their part and reports back for integration.</a:t>
            </a:r>
            <a:endParaRPr sz="2000" dirty="0"/>
          </a:p>
          <a:p>
            <a:endParaRPr lang="en-US" sz="1600" dirty="0"/>
          </a:p>
          <a:p>
            <a:pPr marL="400050" lvl="1" indent="0">
              <a:buNone/>
            </a:pPr>
            <a:r>
              <a:rPr lang="en-US" sz="2000" dirty="0"/>
              <a:t>Predictable</a:t>
            </a:r>
            <a:r>
              <a:rPr sz="2000" dirty="0"/>
              <a:t> control, clear role boundaries</a:t>
            </a:r>
            <a:r>
              <a:rPr lang="en-US" sz="2000" dirty="0"/>
              <a:t>, easy to monitor, facilitates explainability</a:t>
            </a:r>
            <a:r>
              <a:rPr sz="2000" dirty="0"/>
              <a:t>.</a:t>
            </a:r>
            <a:endParaRPr lang="en-US" sz="2000" dirty="0"/>
          </a:p>
          <a:p>
            <a:pPr marL="400050" lvl="1" indent="0">
              <a:buNone/>
            </a:pPr>
            <a:r>
              <a:rPr lang="en-US" sz="2000" dirty="0"/>
              <a:t>Bottleneck in the manager</a:t>
            </a:r>
            <a:endParaRPr sz="2000" dirty="0"/>
          </a:p>
          <a:p>
            <a:endParaRPr sz="1200" dirty="0"/>
          </a:p>
          <a:p>
            <a:pPr marL="0" indent="0" algn="ctr">
              <a:buNone/>
            </a:pPr>
            <a:r>
              <a:rPr sz="2000" dirty="0"/>
              <a:t>Diagram:</a:t>
            </a:r>
          </a:p>
          <a:p>
            <a:pPr marL="0" indent="0" algn="ctr">
              <a:buNone/>
            </a:pPr>
            <a:r>
              <a:rPr sz="2000" dirty="0"/>
              <a:t>[Editor]</a:t>
            </a:r>
            <a:endParaRPr lang="en-US" sz="2000" dirty="0"/>
          </a:p>
          <a:p>
            <a:pPr marL="0" indent="0" algn="ctr">
              <a:buNone/>
            </a:pPr>
            <a:r>
              <a:rPr sz="2000" dirty="0"/>
              <a:t>  /</a:t>
            </a:r>
            <a:r>
              <a:rPr lang="en-US" sz="2000" dirty="0"/>
              <a:t>              </a:t>
            </a:r>
            <a:r>
              <a:rPr sz="2000" dirty="0"/>
              <a:t> |</a:t>
            </a:r>
            <a:r>
              <a:rPr lang="en-US" sz="2000" dirty="0"/>
              <a:t>               </a:t>
            </a:r>
            <a:r>
              <a:rPr sz="2000" dirty="0"/>
              <a:t> \</a:t>
            </a:r>
          </a:p>
          <a:p>
            <a:pPr marL="0" indent="0" algn="ctr">
              <a:buNone/>
            </a:pPr>
            <a:r>
              <a:rPr sz="2000" dirty="0"/>
              <a:t>[Writer] [Fact-Checker] [Designer]</a:t>
            </a:r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D810F45F-5431-CE99-4FED-307049E96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726551"/>
            <a:ext cx="375745" cy="375745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D6B4FEE3-6770-29CC-0784-2871BC1C89AC}"/>
              </a:ext>
            </a:extLst>
          </p:cNvPr>
          <p:cNvSpPr/>
          <p:nvPr/>
        </p:nvSpPr>
        <p:spPr>
          <a:xfrm>
            <a:off x="457199" y="4186376"/>
            <a:ext cx="375745" cy="375745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2. Pipeline / Assembly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Concept: </a:t>
            </a:r>
            <a:r>
              <a:rPr lang="en-US" sz="2000" dirty="0"/>
              <a:t>Work flows</a:t>
            </a:r>
            <a:r>
              <a:rPr sz="2000" dirty="0"/>
              <a:t> through fixed, ordered stages, each transforming the result.</a:t>
            </a:r>
          </a:p>
          <a:p>
            <a:r>
              <a:rPr sz="2000" dirty="0"/>
              <a:t>Example: Loan Application Processing</a:t>
            </a:r>
          </a:p>
          <a:p>
            <a:pPr marL="400050" lvl="1" indent="0">
              <a:buNone/>
            </a:pPr>
            <a:r>
              <a:rPr sz="1600" dirty="0"/>
              <a:t>1. Intake applicant details</a:t>
            </a:r>
          </a:p>
          <a:p>
            <a:pPr marL="400050" lvl="1" indent="0">
              <a:buNone/>
            </a:pPr>
            <a:r>
              <a:rPr sz="1600" dirty="0"/>
              <a:t>2. Validate information</a:t>
            </a:r>
          </a:p>
          <a:p>
            <a:pPr marL="400050" lvl="1" indent="0">
              <a:buNone/>
            </a:pPr>
            <a:r>
              <a:rPr sz="1600" dirty="0"/>
              <a:t>3. Assess risk</a:t>
            </a:r>
          </a:p>
          <a:p>
            <a:pPr marL="400050" lvl="1" indent="0">
              <a:buNone/>
            </a:pPr>
            <a:r>
              <a:rPr sz="1600" dirty="0"/>
              <a:t>4. Approve/Reject</a:t>
            </a:r>
          </a:p>
          <a:p>
            <a:pPr marL="400050" lvl="1" indent="0">
              <a:buNone/>
            </a:pPr>
            <a:r>
              <a:rPr sz="1600" dirty="0"/>
              <a:t>5. Notify applicant</a:t>
            </a:r>
          </a:p>
          <a:p>
            <a:endParaRPr sz="1200" dirty="0"/>
          </a:p>
          <a:p>
            <a:pPr marL="400050" lvl="1" indent="0">
              <a:buNone/>
            </a:pPr>
            <a:r>
              <a:rPr sz="2000" dirty="0"/>
              <a:t>Deterministic, repeatable process</a:t>
            </a:r>
            <a:r>
              <a:rPr lang="en-US" sz="2000" dirty="0"/>
              <a:t>, easy to debug and test.</a:t>
            </a:r>
            <a:endParaRPr sz="2000" dirty="0"/>
          </a:p>
          <a:p>
            <a:pPr marL="400050" lvl="1" indent="0">
              <a:buNone/>
            </a:pPr>
            <a:r>
              <a:rPr lang="en-US" sz="2000" dirty="0"/>
              <a:t>Early errors propagate downstream</a:t>
            </a:r>
          </a:p>
          <a:p>
            <a:endParaRPr sz="900" dirty="0"/>
          </a:p>
          <a:p>
            <a:pPr marL="0" indent="0" algn="ctr">
              <a:buNone/>
            </a:pPr>
            <a:r>
              <a:rPr sz="2000" dirty="0"/>
              <a:t>Diagram:</a:t>
            </a:r>
          </a:p>
          <a:p>
            <a:pPr marL="0" indent="0" algn="ctr">
              <a:buNone/>
            </a:pPr>
            <a:r>
              <a:rPr sz="2000" dirty="0"/>
              <a:t>Applicant → Intake → Validation → Risk → Decision → Notification</a:t>
            </a:r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E6733A31-4DE3-6A91-98C6-F32D96C10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346658"/>
            <a:ext cx="375745" cy="375745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B9EA1A93-1E09-2B02-1597-74420E6812E6}"/>
              </a:ext>
            </a:extLst>
          </p:cNvPr>
          <p:cNvSpPr/>
          <p:nvPr/>
        </p:nvSpPr>
        <p:spPr>
          <a:xfrm>
            <a:off x="457199" y="4722403"/>
            <a:ext cx="375745" cy="375745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3. Planner–Executor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Concept: A Planner decomposes a complex goal into subtasks; Executors perform them.</a:t>
            </a:r>
          </a:p>
          <a:p>
            <a:r>
              <a:rPr sz="2000" dirty="0"/>
              <a:t>Example: Travel Concierge</a:t>
            </a:r>
          </a:p>
          <a:p>
            <a:pPr lvl="1"/>
            <a:r>
              <a:rPr sz="1600" dirty="0"/>
              <a:t>Planner: define subtasks (find flights, hotel, car, activities)</a:t>
            </a:r>
          </a:p>
          <a:p>
            <a:pPr lvl="1"/>
            <a:r>
              <a:rPr sz="1600" dirty="0"/>
              <a:t>Executors: specialized agents execute each</a:t>
            </a:r>
          </a:p>
          <a:p>
            <a:pPr lvl="1"/>
            <a:r>
              <a:rPr sz="1600" dirty="0"/>
              <a:t>Planner adjusts plan if one fails (e.g., over budget)</a:t>
            </a:r>
          </a:p>
          <a:p>
            <a:endParaRPr sz="1600" dirty="0"/>
          </a:p>
          <a:p>
            <a:pPr marL="400050" lvl="1" indent="0">
              <a:buNone/>
            </a:pPr>
            <a:r>
              <a:rPr sz="2000" dirty="0"/>
              <a:t>Separates strategic planning from tactical execution</a:t>
            </a:r>
            <a:r>
              <a:rPr lang="en-US" sz="2000" dirty="0"/>
              <a:t>, open-ended reasoning and adaption</a:t>
            </a:r>
            <a:r>
              <a:rPr sz="2000" dirty="0"/>
              <a:t>.</a:t>
            </a:r>
            <a:endParaRPr lang="en-US" sz="2000" dirty="0"/>
          </a:p>
          <a:p>
            <a:pPr marL="400050" lvl="1" indent="0">
              <a:buNone/>
            </a:pPr>
            <a:r>
              <a:rPr lang="en-US" sz="2000" dirty="0"/>
              <a:t>Planner may propose infeasible goals</a:t>
            </a:r>
          </a:p>
          <a:p>
            <a:pPr marL="400050" lvl="1" indent="0">
              <a:buNone/>
            </a:pPr>
            <a:endParaRPr sz="700" dirty="0"/>
          </a:p>
          <a:p>
            <a:pPr marL="0" indent="0" algn="ctr">
              <a:buNone/>
            </a:pPr>
            <a:r>
              <a:rPr sz="2000" dirty="0"/>
              <a:t>Diagram:</a:t>
            </a:r>
          </a:p>
          <a:p>
            <a:pPr marL="0" indent="0" algn="ctr">
              <a:buNone/>
            </a:pPr>
            <a:r>
              <a:rPr lang="en-US" sz="2000" dirty="0"/>
              <a:t>[Planner]</a:t>
            </a:r>
          </a:p>
          <a:p>
            <a:pPr marL="0" indent="0" algn="ctr">
              <a:buNone/>
            </a:pPr>
            <a:r>
              <a:rPr lang="en-US" sz="2000" dirty="0"/>
              <a:t>   ↓        ↓          ↓</a:t>
            </a:r>
          </a:p>
          <a:p>
            <a:pPr marL="0" indent="0" algn="ctr">
              <a:buNone/>
            </a:pPr>
            <a:r>
              <a:rPr lang="en-US" sz="2000" dirty="0"/>
              <a:t>    [Flight] [Hotel] [Activity]</a:t>
            </a:r>
            <a:endParaRPr sz="2000" dirty="0"/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D65D5E4D-6F8A-E803-635B-1096AD837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947265"/>
            <a:ext cx="375745" cy="375745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F89B794F-5352-5C73-8446-E9848AF9A9D4}"/>
              </a:ext>
            </a:extLst>
          </p:cNvPr>
          <p:cNvSpPr/>
          <p:nvPr/>
        </p:nvSpPr>
        <p:spPr>
          <a:xfrm>
            <a:off x="457199" y="4501684"/>
            <a:ext cx="375745" cy="375745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</a:t>
            </a:r>
            <a:r>
              <a:rPr sz="4000" dirty="0"/>
              <a:t>. Generator–Critic (Proposer–Verifier)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Concept: One agent produces output, another evaluates it.</a:t>
            </a:r>
          </a:p>
          <a:p>
            <a:r>
              <a:rPr sz="2000" dirty="0"/>
              <a:t>Example: Scientific Abstract Writing</a:t>
            </a:r>
          </a:p>
          <a:p>
            <a:pPr lvl="1"/>
            <a:r>
              <a:rPr sz="1600" dirty="0"/>
              <a:t>Generator drafts an abstract.</a:t>
            </a:r>
          </a:p>
          <a:p>
            <a:pPr lvl="1"/>
            <a:r>
              <a:rPr sz="1600" dirty="0"/>
              <a:t>Critic checks for clarity, missing details, unsupported claims.</a:t>
            </a:r>
          </a:p>
          <a:p>
            <a:pPr lvl="1"/>
            <a:r>
              <a:rPr sz="1600" dirty="0"/>
              <a:t>Generator revises until Critic approves.</a:t>
            </a:r>
          </a:p>
          <a:p>
            <a:endParaRPr lang="en-US" sz="2000" dirty="0"/>
          </a:p>
          <a:p>
            <a:pPr marL="400050" lvl="1" indent="0">
              <a:buNone/>
            </a:pPr>
            <a:r>
              <a:rPr sz="2000" dirty="0"/>
              <a:t>Clear separation between creativity and evaluation</a:t>
            </a:r>
            <a:r>
              <a:rPr lang="en-US" sz="2000" dirty="0"/>
              <a:t>, iterative refinement</a:t>
            </a:r>
            <a:r>
              <a:rPr sz="2000" dirty="0"/>
              <a:t>.</a:t>
            </a:r>
          </a:p>
          <a:p>
            <a:pPr marL="400050" lvl="1" indent="0">
              <a:buNone/>
            </a:pPr>
            <a:r>
              <a:rPr lang="en-US" sz="2000" dirty="0"/>
              <a:t>Critics too strict or lenient</a:t>
            </a:r>
          </a:p>
          <a:p>
            <a:endParaRPr sz="2000" dirty="0"/>
          </a:p>
          <a:p>
            <a:pPr marL="0" indent="0" algn="ctr">
              <a:buNone/>
            </a:pPr>
            <a:r>
              <a:rPr sz="2000" dirty="0"/>
              <a:t>Diagram:</a:t>
            </a:r>
          </a:p>
          <a:p>
            <a:pPr marL="0" indent="0" algn="ctr">
              <a:buNone/>
            </a:pPr>
            <a:r>
              <a:rPr sz="2000" dirty="0"/>
              <a:t>Generator → Critic → Feedback → Generator → ...</a:t>
            </a:r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E3E08093-181D-E48B-C92B-F47F838C8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600424"/>
            <a:ext cx="375745" cy="375745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9DD09BF3-8BEC-729E-45EE-18D148AA7EA4}"/>
              </a:ext>
            </a:extLst>
          </p:cNvPr>
          <p:cNvSpPr/>
          <p:nvPr/>
        </p:nvSpPr>
        <p:spPr>
          <a:xfrm>
            <a:off x="457199" y="3976169"/>
            <a:ext cx="375745" cy="375745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5. Committee / Self-Consistency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Concept: Multiple agents solve the same problem independently; a Judge merges results.</a:t>
            </a:r>
          </a:p>
          <a:p>
            <a:r>
              <a:rPr sz="2000" dirty="0"/>
              <a:t>Example: Math Problem Solving Committee</a:t>
            </a:r>
          </a:p>
          <a:p>
            <a:pPr lvl="1"/>
            <a:r>
              <a:rPr sz="1600" dirty="0"/>
              <a:t>Agents A, B, C each compute an answer.</a:t>
            </a:r>
          </a:p>
          <a:p>
            <a:pPr lvl="1"/>
            <a:r>
              <a:rPr sz="1600" dirty="0"/>
              <a:t>Judge compares and selects consensus.</a:t>
            </a:r>
          </a:p>
          <a:p>
            <a:endParaRPr sz="2000" dirty="0"/>
          </a:p>
          <a:p>
            <a:pPr marL="400050" lvl="1" indent="0">
              <a:buNone/>
            </a:pPr>
            <a:r>
              <a:rPr sz="2000" dirty="0"/>
              <a:t>Reliability through redundancy.</a:t>
            </a:r>
            <a:endParaRPr lang="en-US" sz="2000" dirty="0"/>
          </a:p>
          <a:p>
            <a:pPr marL="400050" lvl="1" indent="0">
              <a:buNone/>
            </a:pPr>
            <a:r>
              <a:rPr lang="en-US" sz="2000" dirty="0"/>
              <a:t>Cost and latency</a:t>
            </a:r>
            <a:endParaRPr sz="2000" dirty="0"/>
          </a:p>
          <a:p>
            <a:pPr marL="0" indent="0" algn="ctr">
              <a:buNone/>
            </a:pPr>
            <a:r>
              <a:rPr sz="1800" dirty="0"/>
              <a:t>Diagram:</a:t>
            </a:r>
          </a:p>
          <a:p>
            <a:pPr marL="0" indent="0" algn="ctr">
              <a:buNone/>
            </a:pPr>
            <a:r>
              <a:rPr lang="en-US" sz="1800" dirty="0"/>
              <a:t>Problem</a:t>
            </a:r>
          </a:p>
          <a:p>
            <a:pPr marL="0" indent="0" algn="ctr">
              <a:buNone/>
            </a:pPr>
            <a:r>
              <a:rPr lang="en-US" sz="1800" dirty="0"/>
              <a:t> ↓        ↓        ↓</a:t>
            </a:r>
          </a:p>
          <a:p>
            <a:pPr marL="0" indent="0" algn="ctr">
              <a:buNone/>
            </a:pPr>
            <a:r>
              <a:rPr lang="en-US" sz="1800" dirty="0"/>
              <a:t>[Agent A] [Agent B] [Agent C]</a:t>
            </a:r>
          </a:p>
          <a:p>
            <a:pPr marL="0" indent="0" algn="ctr">
              <a:buNone/>
            </a:pPr>
            <a:r>
              <a:rPr lang="en-US" sz="1800" dirty="0"/>
              <a:t>  ↓</a:t>
            </a:r>
          </a:p>
          <a:p>
            <a:pPr marL="0" indent="0" algn="ctr">
              <a:buNone/>
            </a:pPr>
            <a:r>
              <a:rPr lang="en-US" sz="1800" dirty="0"/>
              <a:t> Consensus [Judge Agent]</a:t>
            </a:r>
            <a:endParaRPr sz="1800" dirty="0"/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CCE646A3-2E07-9183-E707-9ACF62962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579403"/>
            <a:ext cx="375745" cy="375745"/>
          </a:xfrm>
          <a:prstGeom prst="rect">
            <a:avLst/>
          </a:prstGeom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E683E2AC-5BC4-5F91-D571-3961CE2B4839}"/>
              </a:ext>
            </a:extLst>
          </p:cNvPr>
          <p:cNvSpPr/>
          <p:nvPr/>
        </p:nvSpPr>
        <p:spPr>
          <a:xfrm>
            <a:off x="457199" y="3955148"/>
            <a:ext cx="375745" cy="375745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03B6-89C5-B599-B03E-2F7C1AA7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Summary: Choosing the Right Pattern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108C47-09FB-58D8-B312-258EF6604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982160"/>
              </p:ext>
            </p:extLst>
          </p:nvPr>
        </p:nvGraphicFramePr>
        <p:xfrm>
          <a:off x="868939" y="1600200"/>
          <a:ext cx="7581376" cy="4187709"/>
        </p:xfrm>
        <a:graphic>
          <a:graphicData uri="http://schemas.openxmlformats.org/drawingml/2006/table">
            <a:tbl>
              <a:tblPr/>
              <a:tblGrid>
                <a:gridCol w="1895344">
                  <a:extLst>
                    <a:ext uri="{9D8B030D-6E8A-4147-A177-3AD203B41FA5}">
                      <a16:colId xmlns:a16="http://schemas.microsoft.com/office/drawing/2014/main" val="4287237782"/>
                    </a:ext>
                  </a:extLst>
                </a:gridCol>
                <a:gridCol w="1895344">
                  <a:extLst>
                    <a:ext uri="{9D8B030D-6E8A-4147-A177-3AD203B41FA5}">
                      <a16:colId xmlns:a16="http://schemas.microsoft.com/office/drawing/2014/main" val="1956479077"/>
                    </a:ext>
                  </a:extLst>
                </a:gridCol>
                <a:gridCol w="1895344">
                  <a:extLst>
                    <a:ext uri="{9D8B030D-6E8A-4147-A177-3AD203B41FA5}">
                      <a16:colId xmlns:a16="http://schemas.microsoft.com/office/drawing/2014/main" val="1858979212"/>
                    </a:ext>
                  </a:extLst>
                </a:gridCol>
                <a:gridCol w="1895344">
                  <a:extLst>
                    <a:ext uri="{9D8B030D-6E8A-4147-A177-3AD203B41FA5}">
                      <a16:colId xmlns:a16="http://schemas.microsoft.com/office/drawing/2014/main" val="3364048261"/>
                    </a:ext>
                  </a:extLst>
                </a:gridCol>
              </a:tblGrid>
              <a:tr h="329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Pattern</a:t>
                      </a:r>
                      <a:endParaRPr lang="en-US" sz="1600" dirty="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Key Structure</a:t>
                      </a:r>
                      <a:endParaRPr lang="en-US" sz="1600" dirty="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When It’s Useful</a:t>
                      </a:r>
                      <a:endParaRPr lang="en-US" sz="1600" dirty="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Potential Pitfalls</a:t>
                      </a:r>
                      <a:endParaRPr lang="en-US" sz="1600" dirty="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744645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Supervisor</a:t>
                      </a:r>
                      <a:endParaRPr lang="en-US" sz="1600" dirty="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 manager, many specialists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Coordinating specialists under a leader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Manager is a bottleneck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077112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Pipeline</a:t>
                      </a:r>
                      <a:endParaRPr 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Linear stages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Structured, sequential workflows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Early errors propagate downstream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94065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Planner–Executor</a:t>
                      </a:r>
                      <a:endParaRPr 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Strategic planner + tactical workers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Complex, goal-driven decomposition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Planner may propose infeasible goals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83584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Generator–Critic</a:t>
                      </a:r>
                      <a:endParaRPr 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Producer + verifier loop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Quality control through iteration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Critics too strict or too lenient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462494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Committee</a:t>
                      </a:r>
                      <a:endParaRPr 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Parallel solvers + judge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Reliability via redundancy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Cost and latency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1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53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530</Words>
  <Application>Microsoft Macintosh PowerPoint</Application>
  <PresentationFormat>On-screen Show (4:3)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Agentic Design Patterns — Core Examples</vt:lpstr>
      <vt:lpstr>Patterns</vt:lpstr>
      <vt:lpstr>1. Supervisor (Hub-and-Spoke)</vt:lpstr>
      <vt:lpstr>2. Pipeline / Assembly Line</vt:lpstr>
      <vt:lpstr>3. Planner–Executor</vt:lpstr>
      <vt:lpstr>4. Generator–Critic (Proposer–Verifier)</vt:lpstr>
      <vt:lpstr>5. Committee / Self-Consistency</vt:lpstr>
      <vt:lpstr>Summary: Choosing the Right Pattern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P Jones</cp:lastModifiedBy>
  <cp:revision>7</cp:revision>
  <dcterms:created xsi:type="dcterms:W3CDTF">2013-01-27T09:14:16Z</dcterms:created>
  <dcterms:modified xsi:type="dcterms:W3CDTF">2026-03-05T21:19:42Z</dcterms:modified>
  <cp:category/>
</cp:coreProperties>
</file>